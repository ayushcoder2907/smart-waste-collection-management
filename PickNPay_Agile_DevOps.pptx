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7C7D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3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731520"/>
            <a:ext cx="475488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7C7D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7C7D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SOFTWARE ENGINEERING  |  INDUSTRY CASE STUDY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731520"/>
            <a:ext cx="4754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n Pay: Accelerating E-Commerce Through Agile &amp; DevOps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3774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WHO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786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South African grocery retailer with an online store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10896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101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Slow releases and defects hit sales and customer trust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84048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OBJECTIVE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416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Faster, more reliable releases through test automation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40680" y="548640"/>
            <a:ext cx="3246120" cy="2514600"/>
          </a:xfrm>
          <a:prstGeom prst="roundRect">
            <a:avLst>
              <a:gd name="adj" fmla="val 2909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0" y="667512"/>
            <a:ext cx="91440" cy="914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33288" y="667512"/>
            <a:ext cx="91440" cy="914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88736" y="667512"/>
            <a:ext cx="91440" cy="914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640080"/>
            <a:ext cx="2377440" cy="155448"/>
          </a:xfrm>
          <a:prstGeom prst="roundRect">
            <a:avLst>
              <a:gd name="adj" fmla="val 47059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40" y="960120"/>
            <a:ext cx="29718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0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Shop online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77840" y="1554480"/>
            <a:ext cx="914400" cy="96012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43016" y="1682496"/>
            <a:ext cx="384048" cy="384048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15000" y="2212848"/>
            <a:ext cx="640080" cy="64008"/>
          </a:xfrm>
          <a:prstGeom prst="roundRect">
            <a:avLst>
              <a:gd name="adj" fmla="val 42857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2331720"/>
            <a:ext cx="411480" cy="64008"/>
          </a:xfrm>
          <a:prstGeom prst="roundRect">
            <a:avLst>
              <a:gd name="adj" fmla="val 42857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06540" y="1554480"/>
            <a:ext cx="914400" cy="96012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71716" y="1682496"/>
            <a:ext cx="384048" cy="384048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43700" y="2212848"/>
            <a:ext cx="640080" cy="64008"/>
          </a:xfrm>
          <a:prstGeom prst="roundRect">
            <a:avLst>
              <a:gd name="adj" fmla="val 42857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43700" y="2331720"/>
            <a:ext cx="411480" cy="64008"/>
          </a:xfrm>
          <a:prstGeom prst="roundRect">
            <a:avLst>
              <a:gd name="adj" fmla="val 42857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35240" y="1554480"/>
            <a:ext cx="914400" cy="96012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00416" y="1682496"/>
            <a:ext cx="384048" cy="384048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2212848"/>
            <a:ext cx="640080" cy="64008"/>
          </a:xfrm>
          <a:prstGeom prst="roundRect">
            <a:avLst>
              <a:gd name="adj" fmla="val 42857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0" y="2331720"/>
            <a:ext cx="411480" cy="64008"/>
          </a:xfrm>
          <a:prstGeom prst="roundRect">
            <a:avLst>
              <a:gd name="adj" fmla="val 42857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2651760"/>
            <a:ext cx="2377440" cy="27432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7784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Checkout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10144" y="2752344"/>
            <a:ext cx="621792" cy="62179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2" y="2907792"/>
            <a:ext cx="310896" cy="310896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5440680" y="35204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THE SHIFT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440680" y="3794760"/>
            <a:ext cx="132588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440680" y="37947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Traditional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Monthly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812280" y="4041648"/>
            <a:ext cx="32004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7178040" y="3794760"/>
            <a:ext cx="150876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178040" y="3794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Agile + DevOps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Weekly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457200" y="47548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Source: Software Engineering Industry Case Studies. Retailer description is general context. Illustration is schematic.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7C7D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Challenge: Slow Releases and Costly Testing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BEFORE TRANSFORMATION  |  typical traditional workflow (illustrative)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783080" cy="960120"/>
          </a:xfrm>
          <a:prstGeom prst="roundRect">
            <a:avLst>
              <a:gd name="adj" fmla="val 7619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728216"/>
            <a:ext cx="201168" cy="2011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16642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Development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Build features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258568" y="2029968"/>
            <a:ext cx="32918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606040" y="1554480"/>
            <a:ext cx="1783080" cy="960120"/>
          </a:xfrm>
          <a:prstGeom prst="roundRect">
            <a:avLst>
              <a:gd name="adj" fmla="val 7619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97480" y="164592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776" y="172821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154680" y="16642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Manual Testing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74320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Full regression by hand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407408" y="2029968"/>
            <a:ext cx="32918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754880" y="1554480"/>
            <a:ext cx="1783080" cy="960120"/>
          </a:xfrm>
          <a:prstGeom prst="roundRect">
            <a:avLst>
              <a:gd name="adj" fmla="val 7619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46320" y="164592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1728216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03520" y="16642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Bug Fixing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89204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Then re-test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556248" y="2029968"/>
            <a:ext cx="32918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903720" y="1554480"/>
            <a:ext cx="1783080" cy="960120"/>
          </a:xfrm>
          <a:prstGeom prst="roundRect">
            <a:avLst>
              <a:gd name="adj" fmla="val 7619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995160" y="164592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456" y="1728216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52360" y="16642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Monthly Release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704088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One big drop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2578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Fixes trigger repeat testing, so cycles stretch out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2852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Need: a repeatable, automated way to verify quality on every release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457200" y="3246120"/>
            <a:ext cx="262432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94360" y="3355848"/>
            <a:ext cx="914400" cy="20116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594360" y="3355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CASE STUDY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594360" y="3630168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Monthly releases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594360" y="3913632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Improvements reach customers once a month.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3259836" y="3246120"/>
            <a:ext cx="262432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396996" y="3355848"/>
            <a:ext cx="1188720" cy="2011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3396996" y="33558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GENERAL CONTEXT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3396996" y="3630168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Repetitive manual regression</a:t>
            </a:r>
            <a:endParaRPr lang="en-US" sz="1400" dirty="0"/>
          </a:p>
        </p:txBody>
      </p:sp>
      <p:sp>
        <p:nvSpPr>
          <p:cNvPr id="38" name="Text 32"/>
          <p:cNvSpPr txBox="1"/>
          <p:nvPr/>
        </p:nvSpPr>
        <p:spPr>
          <a:xfrm>
            <a:off x="3396996" y="3913632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Same checks re-run by hand; slow, error-prone.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6062472" y="3246120"/>
            <a:ext cx="2624328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6199632" y="3355848"/>
            <a:ext cx="1188720" cy="2011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6199632" y="33558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GENERAL CONTEXT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6199632" y="3630168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Quality vs. speed</a:t>
            </a:r>
            <a:endParaRPr lang="en-US" sz="1400" dirty="0"/>
          </a:p>
        </p:txBody>
      </p:sp>
      <p:sp>
        <p:nvSpPr>
          <p:cNvPr id="43" name="Text 37"/>
          <p:cNvSpPr txBox="1"/>
          <p:nvPr/>
        </p:nvSpPr>
        <p:spPr>
          <a:xfrm>
            <a:off x="6199632" y="3913632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Faster cycles without automation risk missed bugs.</a:t>
            </a:r>
            <a:endParaRPr lang="en-US" sz="1300" dirty="0"/>
          </a:p>
        </p:txBody>
      </p:sp>
      <p:sp>
        <p:nvSpPr>
          <p:cNvPr id="44" name="Text 38"/>
          <p:cNvSpPr txBox="1"/>
          <p:nvPr/>
        </p:nvSpPr>
        <p:spPr>
          <a:xfrm>
            <a:off x="457200" y="47548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Software Engineering Industry Case Studies (monthly cycle). Other points are general SE explanations, not Pick n Pay findings.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3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Agile Delivery Meets DevOps Automation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3258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DEVELOP &amp; TEST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743200" y="13258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RELEASE &amp; OPERATE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2377440" cy="2103120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1783080"/>
            <a:ext cx="2377440" cy="2103120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1627632"/>
            <a:ext cx="82296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45920" y="16276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Plan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79192"/>
            <a:ext cx="82296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67919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08760" y="3730752"/>
            <a:ext cx="109728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08760" y="37307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Build &amp; Test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97580" y="1627632"/>
            <a:ext cx="86868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97580" y="16276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Release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86300" y="2679192"/>
            <a:ext cx="86868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86300" y="267919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Operate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97580" y="3730752"/>
            <a:ext cx="86868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97580" y="37307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Monitor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74620" y="2514600"/>
            <a:ext cx="640080" cy="64008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7462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CI/CD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1188720" cy="310896"/>
          </a:xfrm>
          <a:prstGeom prst="roundRect">
            <a:avLst>
              <a:gd name="adj" fmla="val 23529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2519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Monthly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691640" y="4407408"/>
            <a:ext cx="36576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103120" y="4251960"/>
            <a:ext cx="15544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103120" y="42519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Toward weekly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40480" y="4306824"/>
            <a:ext cx="914400" cy="20116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40480" y="43068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CASE STUDY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34456" y="1435608"/>
            <a:ext cx="420624" cy="42062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536192"/>
            <a:ext cx="219456" cy="219456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6492240" y="1371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Agile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92240" y="16184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Small increments, fast feedback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934456" y="2240280"/>
            <a:ext cx="420624" cy="42062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340864"/>
            <a:ext cx="219456" cy="219456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6492240" y="21762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DevOps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6492240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Dev, test and ops share ownership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5934456" y="3044952"/>
            <a:ext cx="420624" cy="42062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45536"/>
            <a:ext cx="219456" cy="219456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6492240" y="29809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Automated regression</a:t>
            </a:r>
            <a:endParaRPr lang="en-US" sz="1400" dirty="0"/>
          </a:p>
        </p:txBody>
      </p:sp>
      <p:sp>
        <p:nvSpPr>
          <p:cNvPr id="39" name="Text 34"/>
          <p:cNvSpPr txBox="1"/>
          <p:nvPr/>
        </p:nvSpPr>
        <p:spPr>
          <a:xfrm>
            <a:off x="6492240" y="32278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Checks re-run on every change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5934456" y="3849624"/>
            <a:ext cx="420624" cy="42062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950208"/>
            <a:ext cx="219456" cy="219456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6492240" y="37856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CI/CD pipeline</a:t>
            </a:r>
            <a:endParaRPr lang="en-US" sz="1400" dirty="0"/>
          </a:p>
        </p:txBody>
      </p:sp>
      <p:sp>
        <p:nvSpPr>
          <p:cNvPr id="43" name="Text 37"/>
          <p:cNvSpPr txBox="1"/>
          <p:nvPr/>
        </p:nvSpPr>
        <p:spPr>
          <a:xfrm>
            <a:off x="6492240" y="40325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Build, test, deploy automatically</a:t>
            </a:r>
            <a:endParaRPr lang="en-US" sz="1200" dirty="0"/>
          </a:p>
        </p:txBody>
      </p:sp>
      <p:sp>
        <p:nvSpPr>
          <p:cNvPr id="44" name="Text 38"/>
          <p:cNvSpPr txBox="1"/>
          <p:nvPr/>
        </p:nvSpPr>
        <p:spPr>
          <a:xfrm>
            <a:off x="457200" y="47548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Case study (monthly-to-weekly shift). Agile, DevOps, CI/CD descriptions are general concepts; pipeline details not documented.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3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Implementation: Building an Automated Testing Framework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1481328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3716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Code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5623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Commit to repo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47672" y="1755648"/>
            <a:ext cx="19202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44268" y="1325880"/>
            <a:ext cx="1481328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89988" y="13716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Build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189988" y="185623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Compile &amp; package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34740" y="1755648"/>
            <a:ext cx="19202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31336" y="1325880"/>
            <a:ext cx="1481328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77056" y="13716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Automated Tests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877056" y="185623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Selenium + SpecFlow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21808" y="1755648"/>
            <a:ext cx="19202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518404" y="1325880"/>
            <a:ext cx="1481328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64124" y="13716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Quality Check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564124" y="185623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Pass / fail gate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08876" y="1755648"/>
            <a:ext cx="19202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05472" y="1325880"/>
            <a:ext cx="1481328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51192" y="13716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251192" y="185623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Release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423160"/>
            <a:ext cx="40233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2542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Selenium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27706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Automates browser actions: open, click, type, verify results.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2186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SpecFlow (BDD)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4472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Plain-language Given / When / Then steps bound to test code.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8953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Regression detection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12394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Suite re-runs on each build; failures flag broken features.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63440" y="2423160"/>
            <a:ext cx="40233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542032"/>
            <a:ext cx="3108960" cy="2194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00600" y="25420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ILLUSTRATIVE EXAMPLE, NOT A PICK N PAY TEST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2852928"/>
            <a:ext cx="3749040" cy="164592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92040" y="292608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Checkout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Login, add to cart, checkout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am logged in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add a product to my cart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complete checkout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see an order confirmation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7548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Case study names Selenium and SpecFlow. Scenario and pipeline flow are general illustrations (selenium.dev; Gherkin/BDD docs).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3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Faster Releases, Lower Costs, Higher Reliability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24328" cy="1554480"/>
          </a:xfrm>
          <a:prstGeom prst="roundRect">
            <a:avLst>
              <a:gd name="adj" fmla="val 4706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53312"/>
            <a:ext cx="2624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faster releases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87168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monthly toward weekly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59836" y="1280160"/>
            <a:ext cx="2624328" cy="1554480"/>
          </a:xfrm>
          <a:prstGeom prst="roundRect">
            <a:avLst>
              <a:gd name="adj" fmla="val 4706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59836" y="1353312"/>
            <a:ext cx="2624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259836" y="219456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platform uptime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259836" y="2487168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reported reliability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62472" y="1280160"/>
            <a:ext cx="2624328" cy="1554480"/>
          </a:xfrm>
          <a:prstGeom prst="roundRect">
            <a:avLst>
              <a:gd name="adj" fmla="val 4706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62472" y="1353312"/>
            <a:ext cx="2624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062472" y="219456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reduction in QA costs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062472" y="2487168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less manual testing effort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309981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914400" y="3017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Faster delivery of improvements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587752" y="301752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3099816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044952" y="3017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Less testing effort, lower cost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718304" y="301752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099816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175504" y="3017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More reliable operations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848856" y="301752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3099816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306056" y="3017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Automation is core to modern SE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“Automation doesn’t replace software quality; it makes quality achievable at speed.”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47548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Source: Software Engineering Industry Case Studies (3×, 99.9% uptime, 60% QA cost reduction, monthly-to-weekly releases).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7C7D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ckNPay Navy Teal">
  <a:themeElements>
    <a:clrScheme name="PickNPay Navy Teal">
      <a:dk1>
        <a:srgbClr val="0B1F3A"/>
      </a:dk1>
      <a:lt1>
        <a:srgbClr val="FFFFFF"/>
      </a:lt1>
      <a:dk2>
        <a:srgbClr val="3C4F68"/>
      </a:dk2>
      <a:lt2>
        <a:srgbClr val="EEF3F8"/>
      </a:lt2>
      <a:accent1>
        <a:srgbClr val="2F7F86"/>
      </a:accent1>
      <a:accent2>
        <a:srgbClr val="4A7BB7"/>
      </a:accent2>
      <a:accent3>
        <a:srgbClr val="6FC3BD"/>
      </a:accent3>
      <a:accent4>
        <a:srgbClr val="5B7391"/>
      </a:accent4>
      <a:accent5>
        <a:srgbClr val="1B3A66"/>
      </a:accent5>
      <a:accent6>
        <a:srgbClr val="B7C7DA"/>
      </a:accent6>
      <a:hlink>
        <a:srgbClr val="4A7BB7"/>
      </a:hlink>
      <a:folHlink>
        <a:srgbClr val="5B7391"/>
      </a:folHlink>
    </a:clrScheme>
    <a:fontScheme name="PickNPay Navy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Pick n Pay: Agile and DevOps Transformation in E-Commerce</dc:title>
  <dc:subject>PptxGenJS Presentation</dc:subject>
  <dc:creator>PptxGenJS</dc:creator>
  <cp:lastModifiedBy>PptxGenJS</cp:lastModifiedBy>
  <cp:revision>1</cp:revision>
  <dcterms:created xsi:type="dcterms:W3CDTF">2026-10-26T06:53:20Z</dcterms:created>
  <dcterms:modified xsi:type="dcterms:W3CDTF">2026-10-26T06:53:20Z</dcterms:modified>
</cp:coreProperties>
</file>